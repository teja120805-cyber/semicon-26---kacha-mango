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8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image" Target="../media/image11.jpe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drive/folders/1G6Wa_ILJXcvpa6gIHGHpws5hdlO48gVC?usp=sharing" TargetMode="External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hyperlink" Target="https://github.com/teja120805-cyber/Semicon-26---Kacha-Mango" TargetMode="External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5" Type="http://schemas.openxmlformats.org/officeDocument/2006/relationships/image" Target="../media/image2.png"/><Relationship Id="rId10" Type="http://schemas.openxmlformats.org/officeDocument/2006/relationships/image" Target="../media/image19.png"/><Relationship Id="rId4" Type="http://schemas.openxmlformats.org/officeDocument/2006/relationships/image" Target="../media/image11.jpe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teja120805-cyber/Semicon-26---Kacha-Mango" TargetMode="External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22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hyperlink" Target="https://drive.google.com/drive/folders/1G6Wa_ILJXcvpa6gIHGHpws5hdlO48gVC?usp=sharing" TargetMode="External"/><Relationship Id="rId5" Type="http://schemas.openxmlformats.org/officeDocument/2006/relationships/image" Target="../media/image2.png"/><Relationship Id="rId10" Type="http://schemas.openxmlformats.org/officeDocument/2006/relationships/image" Target="../media/image24.png"/><Relationship Id="rId4" Type="http://schemas.openxmlformats.org/officeDocument/2006/relationships/image" Target="../media/image11.jpe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4114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DriftSense — 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Kaccha Mango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cs typeface="Poppins" pitchFamily="34" charset="-120"/>
              </a:rPr>
              <a:t>Abishek Guru M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2111349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Tejashwan</a:t>
            </a: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Gangishetty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9" name="Text 50"/>
          <p:cNvSpPr txBox="1"/>
          <p:nvPr/>
        </p:nvSpPr>
        <p:spPr>
          <a:xfrm>
            <a:off x="4080053" y="3181197"/>
            <a:ext cx="1799379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Anushka </a:t>
            </a:r>
            <a:r>
              <a:rPr lang="en-US" sz="1100" dirty="0" err="1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Chandergi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799379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Meenakshi Sundaram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4763382" cy="276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Vellore Institute of Technology, Vellore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9080439729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3674188" cy="257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abishekguru.m2023@vitstudent.ac.in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8" y="3193085"/>
            <a:ext cx="860716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cap="all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Drift-Sense: AI-Powered Navigation-Error Recovery for Wafer Inspection Tools</a:t>
            </a:r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233172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3931463"/>
            <a:ext cx="89684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200" dirty="0">
                <a:solidFill>
                  <a:srgbClr val="FFFFFF"/>
                </a:solidFill>
                <a:latin typeface="Poppins"/>
              </a:rPr>
              <a:t>Inspection tools must relocate a previously captured 100x Reference to the same site in a wider, noisier 10x Search image — across a ~10:1 (9:1-11:1) scale gap, 1-2° rotation drift, and realistic SEM degradation.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dirty="0">
                <a:solidFill>
                  <a:srgbClr val="FFFFFF"/>
                </a:solidFill>
                <a:latin typeface="Poppins"/>
              </a:rPr>
              <a:t>Real DRAM structure is highly repetitive: a wrong periodic repeat can score almost identically to the true site. </a:t>
            </a:r>
            <a:r>
              <a:rPr sz="1200" dirty="0" err="1">
                <a:solidFill>
                  <a:srgbClr val="FFFFFF"/>
                </a:solidFill>
                <a:latin typeface="Poppins"/>
              </a:rPr>
              <a:t>DriftSense</a:t>
            </a:r>
            <a:r>
              <a:rPr sz="1200" dirty="0">
                <a:solidFill>
                  <a:srgbClr val="FFFFFF"/>
                </a:solidFill>
                <a:latin typeface="Poppins"/>
              </a:rPr>
              <a:t> recovers the target center (x, y) automatically, with a confidence/ambiguity score alongside it.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classical, fully-reproducible localizer: search the scale x rotation space explicitly, score by normalised cross-correlation, and say so when the answer is not decisive.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60850"/>
            <a:ext cx="10267798" cy="105156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261104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528109"/>
            <a:ext cx="7677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50">
                <a:solidFill>
                  <a:srgbClr val="FFFFFF"/>
                </a:solidFill>
                <a:latin typeface="Poppins"/>
              </a:rPr>
              <a:t>Classical multi-scale, multi-rotation template matching: search scale x rotation hypotheses, rank candidates by normalized cross-correlation, then refine to sub-pixel precision.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5257800"/>
            <a:ext cx="10267798" cy="118872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458968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724144"/>
            <a:ext cx="8458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50">
                <a:solidFill>
                  <a:srgbClr val="FFFFFF"/>
                </a:solidFill>
                <a:latin typeface="Poppins"/>
              </a:rPr>
              <a:t>Paired with DriftSense's own synthetic DRAM mat/strip generator (realistic macro-structure + SEM degradations), so the pipeline is built and evaluated against data that mirrors real repetitive-pattern ambiguity.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connected parts, both runnable from the repository root: a physically-grounded synthetic DRAM generator, and a deterministic classical localization pipeline.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214884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528286"/>
            <a:ext cx="899678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sz="1050" dirty="0">
                <a:solidFill>
                  <a:srgbClr val="FFFFFF"/>
                </a:solidFill>
                <a:latin typeface="Poppins"/>
              </a:rPr>
              <a:t>Pipeline: Reference → candidate generation (ZNCC over 99 scale × rotation hypotheses — 11 scales spanning the literal 9:1–11:1 range × 9 rotations across ±5°, built with both a sharp and a PSF-matched template) → </a:t>
            </a:r>
            <a:r>
              <a:rPr sz="1050" dirty="0" err="1">
                <a:solidFill>
                  <a:srgbClr val="FFFFFF"/>
                </a:solidFill>
                <a:latin typeface="Poppins"/>
              </a:rPr>
              <a:t>dedup</a:t>
            </a:r>
            <a:r>
              <a:rPr sz="1050" dirty="0">
                <a:solidFill>
                  <a:srgbClr val="FFFFFF"/>
                </a:solidFill>
                <a:latin typeface="Poppins"/>
              </a:rPr>
              <a:t> → ranking → sub-pixel refinement → (x, y) with a confidence and ambiguity score.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dirty="0">
                <a:solidFill>
                  <a:srgbClr val="FFFFFF"/>
                </a:solidFill>
                <a:latin typeface="Poppins"/>
              </a:rPr>
              <a:t>Data generator: DRAM mats rendered independently, tiled with strip/routing regions on a shared canvas — real structural boundaries, not an injected marker, disambiguate repeats; SEM degradations layered on after.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dirty="0">
                <a:solidFill>
                  <a:srgbClr val="FFFFFF"/>
                </a:solidFill>
                <a:latin typeface="Poppins"/>
              </a:rPr>
              <a:t>The grid was densified (5→9 steps) and then widened to the literal 9:1–11:1 span; a PSF-matched dual-arm template and a recalibrated ambiguity threshold followed. Each shipped as a documented gate exception, logged with the criteria it did not clear.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unusual here is not the matcher - it is the evidence standard every change had to clear before it was allowed into production.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17830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89120"/>
            <a:ext cx="442935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dirty="0">
                <a:solidFill>
                  <a:srgbClr val="FFFFFF"/>
                </a:solidFill>
                <a:latin typeface="Poppins"/>
              </a:rPr>
              <a:t>A physically-grounded synthetic DRAM generator: independently-rendered mats tiled with real strip/peripheral structure, not an injected disambiguation signal — combined with a validated multi-hypothesis scale/rotation search.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1783080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52544"/>
            <a:ext cx="42391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100" dirty="0">
                <a:solidFill>
                  <a:srgbClr val="FFFFFF"/>
                </a:solidFill>
                <a:latin typeface="Poppins"/>
              </a:rPr>
              <a:t>Every candidate change — 42 isolated experiments including a learned re-ranker, periodicity-aware re-ranking and alternative correlation scores — must clear a mandatory 7-criterion integration gate on held-out and external data. Most were rejected and kept with their evidence; four shipped as documented exceptions.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Accurate to a third of a pixel on most pairs, honest about the rest, and fast enough to sit in an inspection loop on CPU alone.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19202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658868"/>
            <a:ext cx="414863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 dirty="0">
                <a:solidFill>
                  <a:srgbClr val="D1D5DB"/>
                </a:solidFill>
                <a:latin typeface="Poppins"/>
              </a:rPr>
              <a:t>Median error is 0.32px — sub-pixel on most pairs. The system also knows when not to answer: it compares the winning match against its best rival more than 10px away, returns 64.7% of pairs at 95.0% accuracy, and defers the rest — catching 85.7% of all failures before they reach the tool.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192024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38878"/>
            <a:ext cx="39867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spcAft>
                <a:spcPts val="0"/>
              </a:spcAft>
              <a:buNone/>
            </a:pPr>
            <a:r>
              <a:rPr sz="1050" dirty="0">
                <a:solidFill>
                  <a:srgbClr val="D1D5DB"/>
                </a:solidFill>
                <a:latin typeface="Poppins"/>
              </a:rPr>
              <a:t>77.6%@5px pooled (n=156), up from 71.2% (+6.4pp). Identical at 4px and 2px; 72.4%@1px; 66.7% inside half a pixel. Median error 0.32px, mean 47.7px. Catastrophic (&gt;50px) 14.1%, down from 18.6%. 3.72s/pair on a single CPU core. Crops with no distinguishing macro structure remain the disclosed limitation.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Feasibility, Technology &amp; Next Steps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Software-only, CPU-capable, and fully reproducible — with links, references, and next steps below.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108960"/>
            <a:ext cx="9467698" cy="20574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873494" y="3195321"/>
            <a:ext cx="41148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FEASIBILITY, LINKS &amp; NEXT STEPS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873494" y="3445917"/>
            <a:ext cx="8748979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spcAft>
                <a:spcPts val="400"/>
              </a:spcAft>
              <a:buNone/>
            </a:pPr>
            <a:r>
              <a:rPr sz="1000" dirty="0">
                <a:solidFill>
                  <a:srgbClr val="FFFFFF"/>
                </a:solidFill>
                <a:latin typeface="Poppins"/>
              </a:rPr>
              <a:t>Feasibility: pure Python/OpenCV/NumPy classical pipeline, CPU-only in production (3.72s/pair, single core);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PyTorch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used only for a rejected, non-production learned-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reranker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experiment.</a:t>
            </a:r>
            <a:endParaRPr lang="en-US" sz="1300" dirty="0"/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GitHub: </a:t>
            </a:r>
            <a:r>
              <a:rPr lang="en-US" sz="1000" dirty="0">
                <a:solidFill>
                  <a:srgbClr val="FFFFFF"/>
                </a:solidFill>
                <a:latin typeface="Poppins"/>
                <a:hlinkClick r:id="rId7"/>
              </a:rPr>
              <a:t>https://github.com/teja120805-cyber/Semicon-26---Kacha-Mango</a:t>
            </a:r>
            <a:endParaRPr lang="en-US" sz="1000" dirty="0">
              <a:solidFill>
                <a:srgbClr val="FFFFFF"/>
              </a:solidFill>
              <a:latin typeface="Poppins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Demo video: </a:t>
            </a:r>
            <a:r>
              <a:rPr lang="en-US" sz="1000" dirty="0">
                <a:solidFill>
                  <a:srgbClr val="FFFFFF"/>
                </a:solidFill>
                <a:latin typeface="Poppins"/>
                <a:hlinkClick r:id="rId8"/>
              </a:rPr>
              <a:t>https://drive.google.com/drive/folders/1G6Wa_ILJXcvpa6gIHGHpws5hdlO48gVC?usp=sharing</a:t>
            </a:r>
            <a:endParaRPr lang="en-US" sz="1000" dirty="0">
              <a:solidFill>
                <a:srgbClr val="FFFFFF"/>
              </a:solidFill>
              <a:latin typeface="Poppins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References: Foi,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Trimeche</a:t>
            </a:r>
            <a:r>
              <a:rPr sz="1000" dirty="0">
                <a:solidFill>
                  <a:srgbClr val="FFFFFF"/>
                </a:solidFill>
                <a:latin typeface="Poppins"/>
              </a:rPr>
              <a:t>,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Katkovnik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&amp; </a:t>
            </a:r>
            <a:r>
              <a:rPr sz="1000" dirty="0" err="1">
                <a:solidFill>
                  <a:srgbClr val="FFFFFF"/>
                </a:solidFill>
                <a:latin typeface="Poppins"/>
              </a:rPr>
              <a:t>Egiazarian</a:t>
            </a:r>
            <a:r>
              <a:rPr sz="1000" dirty="0">
                <a:solidFill>
                  <a:srgbClr val="FFFFFF"/>
                </a:solidFill>
                <a:latin typeface="Poppins"/>
              </a:rPr>
              <a:t> (2008) Poissonian-Gaussian noise; Orji et al. (2018) Nature Electronics metrology; Keeth et al. (2007) DRAM Circuit Design; Reimer (1998) SEM image formation. Full bibliography with DOIs: references/.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000" dirty="0">
                <a:solidFill>
                  <a:srgbClr val="FFFFFF"/>
                </a:solidFill>
                <a:latin typeface="Poppins"/>
              </a:rPr>
              <a:t>Future work: residual failures are one-dimensional — error along a lattice axis, ~1.5px cross-axis. Open direction: escalating hypothesis density on flagged pairs (5 seeds, +2.8pp mean; not integrated — runtime and cross-seed stability fail the gate).</a:t>
            </a:r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9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Python, OpenCV, NumPy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CPU-only, no GPU needed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PyTorch (experiments), Streamlit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3" y="3487522"/>
            <a:ext cx="709550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400">
                <a:solidFill>
                  <a:srgbClr val="FFFFFF"/>
                </a:solidFill>
                <a:latin typeface="Poppins"/>
                <a:hlinkClick r:id="rId8"/>
              </a:rPr>
              <a:t>https://github.com/teja120805-cyber/Semicon-26---Kacha-Mango</a:t>
            </a:r>
            <a:endParaRPr lang="en-US" sz="1400" dirty="0">
              <a:solidFill>
                <a:srgbClr val="FFFFFF"/>
              </a:solidFill>
              <a:latin typeface="Poppins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9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10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1"/>
            <a:ext cx="8321040" cy="322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dirty="0">
                <a:solidFill>
                  <a:srgbClr val="FFFFFF"/>
                </a:solidFill>
                <a:latin typeface="Poppins"/>
                <a:hlinkClick r:id="rId11"/>
              </a:rPr>
              <a:t>https://drive.google.com/drive/folders/1G6Wa_ILJXcvpa6gIHGHpws5hdlO48gVC?usp=sharing</a:t>
            </a:r>
            <a:endParaRPr lang="en-US" sz="1400" dirty="0">
              <a:solidFill>
                <a:srgbClr val="FFFFFF"/>
              </a:solidFill>
              <a:latin typeface="Poppins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92354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Structures, imaging physics, noise and the matching method are each grounded in published sources, mapped to the code that implements them.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067105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88403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Structures follow published DRAM array organisation: independently-rendered sub-array mats tiled with sense-amplifier and wordline-driver strips, so a wide field reads as blocks separated by peripheral bands rather than one continuous lattice. Acquisition is modelled as a chain — beam PSF and astigmatism, Poisson shot noise at a set dose, Gaussian read noise, charging, raster shear and jitter, radial scan nonlinearity — then exact 10× area-average decimation. Localization is normalised cross-correlation over 99 scale × rotation hypotheses.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92354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load-bearing sources below; the full verified bibliography lives in references/.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4926787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Keeth, Baker, Johnson &amp; Lin (2007). DRAM Circuit Design, 2nd ed. Wiley-IEEE Press. ISBN 978-0-470-18475-2 — mat / peripheral-strip array organisation.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0395" y="5355641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 (1998). Scanning Electron Microscopy: Physics of Image Formation, 2nd ed. Springer. doi:10.1007/978-3-540-38967-5 — beam PSF, astigmatism.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0395" y="578358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Foi, Trimeche, Katkovnik &amp; Egiazarian (2008). IEEE Trans. Image Processing 17(10). doi:10.1109/TIP.2008.2001399 — Poissonian-Gaussian shot + read noise.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1190</Words>
  <Application>Microsoft Office PowerPoint</Application>
  <PresentationFormat>Widescreen</PresentationFormat>
  <Paragraphs>92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Abishek Guru</cp:lastModifiedBy>
  <cp:revision>7</cp:revision>
  <dcterms:created xsi:type="dcterms:W3CDTF">2026-01-15T05:38:47Z</dcterms:created>
  <dcterms:modified xsi:type="dcterms:W3CDTF">2026-08-18T03:16:32Z</dcterms:modified>
</cp:coreProperties>
</file>