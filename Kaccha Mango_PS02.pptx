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59" r:id="rId4"/>
    <p:sldId id="260" r:id="rId5"/>
    <p:sldId id="269" r:id="rId6"/>
    <p:sldId id="270" r:id="rId7"/>
    <p:sldId id="271" r:id="rId8"/>
    <p:sldId id="272" r:id="rId9"/>
    <p:sldId id="273" r:id="rId10"/>
    <p:sldId id="274" r:id="rId11"/>
    <p:sldId id="261" r:id="rId12"/>
    <p:sldId id="262" r:id="rId13"/>
    <p:sldId id="263" r:id="rId14"/>
    <p:sldId id="268" r:id="rId15"/>
    <p:sldId id="267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4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rive.google.com/drive/folders/1G6Wa_ILJXcvpa6gIHGHpws5hdlO48gVC?usp=sharing" TargetMode="External"/><Relationship Id="rId11" Type="http://schemas.openxmlformats.org/officeDocument/2006/relationships/image" Target="../media/image7.png"/><Relationship Id="rId5" Type="http://schemas.openxmlformats.org/officeDocument/2006/relationships/hyperlink" Target="https://github.com/teja120805-cyber/Semicon-26---Kacha-Mango" TargetMode="External"/><Relationship Id="rId10" Type="http://schemas.openxmlformats.org/officeDocument/2006/relationships/image" Target="../media/image9.png"/><Relationship Id="rId4" Type="http://schemas.openxmlformats.org/officeDocument/2006/relationships/image" Target="../media/image17.png"/><Relationship Id="rId9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teja120805-cyber/Semicon-26---Kacha-Mango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22.png"/><Relationship Id="rId10" Type="http://schemas.openxmlformats.org/officeDocument/2006/relationships/image" Target="../media/image9.png"/><Relationship Id="rId4" Type="http://schemas.openxmlformats.org/officeDocument/2006/relationships/image" Target="../media/image21.png"/><Relationship Id="rId9" Type="http://schemas.openxmlformats.org/officeDocument/2006/relationships/hyperlink" Target="https://drive.google.com/drive/folders/1G6Wa_ILJXcvpa6gIHGHpws5hdlO48gVC?usp=sharing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4114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DriftSense — 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4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Kaccha Mango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  <a:latin typeface="Poppins" pitchFamily="34" charset="0"/>
                <a:cs typeface="Poppins" pitchFamily="34" charset="-120"/>
              </a:rPr>
              <a:t>Abishek Guru M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2111349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 err="1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Tejashwan</a:t>
            </a:r>
            <a:r>
              <a:rPr lang="en-US" sz="11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Gangishetty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59" name="Text 50"/>
          <p:cNvSpPr txBox="1"/>
          <p:nvPr/>
        </p:nvSpPr>
        <p:spPr>
          <a:xfrm>
            <a:off x="4080053" y="3181197"/>
            <a:ext cx="1799379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Anushka </a:t>
            </a:r>
            <a:r>
              <a:rPr lang="en-US" sz="1100" dirty="0" err="1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Chandergi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799379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Meenakshi Sundaram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4763382" cy="2761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Vellore Institute of Technology, Vellore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9080439729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3674188" cy="257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abishekguru.m2023@vitstudent.ac.in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8" y="3193085"/>
            <a:ext cx="860716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cap="all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Drift-Sense: AI-Powered Navigation-Error Recovery for Wafer Inspection Tools</a:t>
            </a:r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1990874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77956" y="3983127"/>
            <a:ext cx="89684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spcAft>
                <a:spcPts val="400"/>
              </a:spcAft>
              <a:buNone/>
            </a:pPr>
            <a:r>
              <a:rPr sz="1200" dirty="0">
                <a:solidFill>
                  <a:srgbClr val="FFFFFF"/>
                </a:solidFill>
                <a:latin typeface="Poppins"/>
              </a:rPr>
              <a:t>Inspection tools must relocate a previously captured 100x Reference to the same site in a wider, noisier 10x Search image — across a ~10:1 (9:1-11:1) scale gap, 1-2° rotation drift, and realistic SEM degradation.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dirty="0">
                <a:solidFill>
                  <a:srgbClr val="FFFFFF"/>
                </a:solidFill>
                <a:latin typeface="Poppins"/>
              </a:rPr>
              <a:t>Real DRAM structure is highly repetitive: a wrong periodic repeat can score almost identically to the true site. </a:t>
            </a:r>
            <a:r>
              <a:rPr sz="1200" dirty="0" err="1">
                <a:solidFill>
                  <a:srgbClr val="FFFFFF"/>
                </a:solidFill>
                <a:latin typeface="Poppins"/>
              </a:rPr>
              <a:t>DriftSense</a:t>
            </a:r>
            <a:r>
              <a:rPr sz="1200" dirty="0">
                <a:solidFill>
                  <a:srgbClr val="FFFFFF"/>
                </a:solidFill>
                <a:latin typeface="Poppins"/>
              </a:rPr>
              <a:t> recovers the target center (x, y) automatically, with a confidence/ambiguity score alongside it.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classical, fully-reproducible localizer: search the scale x rotation space explicitly, score by normalised cross-correlation, and say so when the answer is not decisive.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4060850"/>
            <a:ext cx="10267798" cy="105156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4261104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528109"/>
            <a:ext cx="7677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50">
                <a:solidFill>
                  <a:srgbClr val="FFFFFF"/>
                </a:solidFill>
                <a:latin typeface="Poppins"/>
              </a:rPr>
              <a:t>Classical multi-scale, multi-rotation template matching: search scale x rotation hypotheses, rank candidates by normalized cross-correlation, then refine to sub-pixel precision.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5257800"/>
            <a:ext cx="10267798" cy="118872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458968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724144"/>
            <a:ext cx="8458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50">
                <a:solidFill>
                  <a:srgbClr val="FFFFFF"/>
                </a:solidFill>
                <a:latin typeface="Poppins"/>
              </a:rPr>
              <a:t>Paired with DriftSense's own synthetic DRAM mat/strip generator (realistic macro-structure + SEM degradations), so the pipeline is built and evaluated against data that mirrors real repetitive-pattern ambiguity.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connected parts, both runnable from the repository root: a physically-grounded synthetic DRAM generator, and a deterministic classical localization pipeline.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134002"/>
            <a:ext cx="10267798" cy="214884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295851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522699"/>
            <a:ext cx="899678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spcAft>
                <a:spcPts val="400"/>
              </a:spcAft>
              <a:buNone/>
            </a:pPr>
            <a:r>
              <a:rPr sz="1050" dirty="0">
                <a:solidFill>
                  <a:srgbClr val="FFFFFF"/>
                </a:solidFill>
                <a:latin typeface="Poppins"/>
              </a:rPr>
              <a:t>Pipeline: Reference → candidate generation (ZNCC over 99 scale × rotation hypotheses — 11 scales spanning the literal 9:1–11:1 range × 9 rotations across ±5°, built with both a sharp and a PSF-matched template) → </a:t>
            </a:r>
            <a:r>
              <a:rPr sz="1050" dirty="0" err="1">
                <a:solidFill>
                  <a:srgbClr val="FFFFFF"/>
                </a:solidFill>
                <a:latin typeface="Poppins"/>
              </a:rPr>
              <a:t>dedup</a:t>
            </a:r>
            <a:r>
              <a:rPr sz="1050" dirty="0">
                <a:solidFill>
                  <a:srgbClr val="FFFFFF"/>
                </a:solidFill>
                <a:latin typeface="Poppins"/>
              </a:rPr>
              <a:t> → ranking → sub-pixel refinement → (x, y) with a confidence and ambiguity score.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dirty="0">
                <a:solidFill>
                  <a:srgbClr val="FFFFFF"/>
                </a:solidFill>
                <a:latin typeface="Poppins"/>
              </a:rPr>
              <a:t>Data generator: DRAM mats rendered independently, tiled with strip/routing regions on a shared canvas — real structural boundaries, not an injected marker, disambiguate repeats; SEM degradations layered on after.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 dirty="0">
                <a:solidFill>
                  <a:srgbClr val="FFFFFF"/>
                </a:solidFill>
                <a:latin typeface="Poppins"/>
              </a:rPr>
              <a:t>The grid was densified (5→9 steps) and then widened to the literal 9:1–11:1 span; a PSF-matched dual-arm template and a recalibrated ambiguity threshold followed. Each shipped as a documented gate exception, logged with the criteria it did not clear.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969264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Synthetic Data Design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DRAM die is not one continuous periodic field. The generator reproduces that, because it is what makes the problem solvable at all.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134002"/>
            <a:ext cx="10267798" cy="214884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372661"/>
            <a:ext cx="896112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 — MATS, STRIPS, AND WHY IT MATTERS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400"/>
              </a:spcAft>
              <a:buNone/>
            </a:pPr>
            <a:r>
              <a:rPr sz="1050">
                <a:solidFill>
                  <a:srgbClr val="FFFFFF"/>
                </a:solidFill>
                <a:latin typeface="Poppins"/>
              </a:rPr>
              <a:t>Real DRAM is organised as sub-array mats tiled with peripheral bands — bitline sense amplifiers on one axis, sub-wordline drivers on the other (Keeth et al. 2007; Vogelsang 2010). The generator renders each mat independently on a 10000x10000 px, 1 nm/px canvas and tiles them with strip/routing regions, so structural boundaries emerge from the layout rather than from an injected landmark.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>
                <a:solidFill>
                  <a:srgbClr val="FFFFFF"/>
                </a:solidFill>
                <a:latin typeface="Poppins"/>
              </a:rPr>
              <a:t>Six DRAM mat presets, each with its own word/bit pitch and contact sub-lattice, plus a continuous feature_size_scale so one preset spans a range of process nodes instead of a single discrete point.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FFFFFF"/>
                </a:solidFill>
                <a:latin typeface="Poppins"/>
              </a:rPr>
              <a:t>Ground truth is computed from the crop origin BEFORE any imaging call — gt = (x0/10 + 50, y0/10 + 50) — so no degradation can move it and no label leakage is possible.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969264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Degradation, Scale and Rotation Modelling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420624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 Modelled Mechanisms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923544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mechanism is a real acquisition effect, applied in physical order and justified against a published source.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1067105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897733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acquisition order: beam PSF blur and astigmatism (Reimer 1998) -&gt; Poisson shot noise at a chosen dose plus Gaussian read noise (Foi et al. 2008; Timischl et al. 2012) -&gt; charging streaks on insulating strips (Cazaux 2004) -&gt; raster shear and per-row jitter, modelled separately from fixed barrel/pincushion scan nonlinearity because they are physically distinct error classes (Sutton et al. 2006) -&gt; exact 10x area-average decimation -&gt; residual rotation (+/-4 deg) and scale drift (9:1-11:1). Structural effects are applied at render time, where they belong: capillary pattern collapse (Tanaka et al. 1993), CD bias and line-edge roughness (Orji et al. 2018), corner rounding.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4155034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1057046" y="4279392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4155034"/>
            <a:ext cx="420624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Coverage, Stated Honestly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4497934"/>
            <a:ext cx="923544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the 22 mechanisms, 14 carry a source treating that exact effect; 6 are standard models anchored to a textbook chapter; 2 are not physical degradations at all.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4764938"/>
            <a:ext cx="9601200" cy="1410005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8"/>
          <p:cNvSpPr/>
          <p:nvPr/>
        </p:nvSpPr>
        <p:spPr>
          <a:xfrm>
            <a:off x="1790395" y="5232197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4926787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mechanism -&gt; code -&gt; source map in references/README.md, with BibTeX in references/BIBLIOGRAPHY.bib; coverage audit in reports/DEGRADATION_COVERAGE.md.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1790395" y="5661050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 txBox="1"/>
          <p:nvPr/>
        </p:nvSpPr>
        <p:spPr>
          <a:xfrm>
            <a:off x="1790395" y="5355641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dressed up: a row whose justification is "standard radial falloff model" is labelled exactly that, rather than given a loosely-related citation.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790395" y="578358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Applied Materials / Hugging Face reference generator was read for coverage comparison only — never imported, copied or executed.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969264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Experiment Setup and Test Diversity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156 pairs, 16 structural families, 5 splits — hard cases separated out on purpose, not sampled uniformly.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134001"/>
            <a:ext cx="10267798" cy="2306903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372661"/>
            <a:ext cx="896112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SPLITS, FAMILIES AND WHAT EACH ONE IS FOR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400"/>
              </a:spcAft>
              <a:buNone/>
            </a:pPr>
            <a:r>
              <a:rPr sz="1050" dirty="0">
                <a:solidFill>
                  <a:srgbClr val="FFFFFF"/>
                </a:solidFill>
                <a:latin typeface="Poppins"/>
              </a:rPr>
              <a:t>Splits: development 24 (tuning only) - validation 40 (gate criterion 1) - </a:t>
            </a:r>
            <a:r>
              <a:rPr sz="1050" dirty="0" err="1">
                <a:solidFill>
                  <a:srgbClr val="FFFFFF"/>
                </a:solidFill>
                <a:latin typeface="Poppins"/>
              </a:rPr>
              <a:t>held_out</a:t>
            </a:r>
            <a:r>
              <a:rPr sz="1050" dirty="0">
                <a:solidFill>
                  <a:srgbClr val="FFFFFF"/>
                </a:solidFill>
                <a:latin typeface="Poppins"/>
              </a:rPr>
              <a:t> 40 (gate criterion 2) - challenge 32 (hardest combined conditions) - </a:t>
            </a:r>
            <a:r>
              <a:rPr sz="1050" dirty="0" err="1">
                <a:solidFill>
                  <a:srgbClr val="FFFFFF"/>
                </a:solidFill>
                <a:latin typeface="Poppins"/>
              </a:rPr>
              <a:t>cross_generator</a:t>
            </a:r>
            <a:r>
              <a:rPr sz="1050" dirty="0">
                <a:solidFill>
                  <a:srgbClr val="FFFFFF"/>
                </a:solidFill>
                <a:latin typeface="Poppins"/>
              </a:rPr>
              <a:t> 20, an EXTERNAL surface generated by the </a:t>
            </a:r>
            <a:r>
              <a:rPr sz="1050" dirty="0" err="1">
                <a:solidFill>
                  <a:srgbClr val="FFFFFF"/>
                </a:solidFill>
                <a:latin typeface="Poppins"/>
              </a:rPr>
              <a:t>organisers'</a:t>
            </a:r>
            <a:r>
              <a:rPr sz="1050" dirty="0">
                <a:solidFill>
                  <a:srgbClr val="FFFFFF"/>
                </a:solidFill>
                <a:latin typeface="Poppins"/>
              </a:rPr>
              <a:t> own reference generator, never by our code. Total 156, well past the 30-pair minimum.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dirty="0">
                <a:solidFill>
                  <a:srgbClr val="FFFFFF"/>
                </a:solidFill>
                <a:latin typeface="Poppins"/>
              </a:rPr>
              <a:t>Families span the axes independently so effects can be attributed: crop placement (deep single-mat, mat boundary, strip anchor, multi-mat), acquisition degradation (heavy noise, vignette/gamma, </a:t>
            </a:r>
            <a:r>
              <a:rPr sz="1050" dirty="0" err="1">
                <a:solidFill>
                  <a:srgbClr val="FFFFFF"/>
                </a:solidFill>
                <a:latin typeface="Poppins"/>
              </a:rPr>
              <a:t>barrel+charging</a:t>
            </a:r>
            <a:r>
              <a:rPr sz="1050" dirty="0">
                <a:solidFill>
                  <a:srgbClr val="FFFFFF"/>
                </a:solidFill>
                <a:latin typeface="Poppins"/>
              </a:rPr>
              <a:t>, </a:t>
            </a:r>
            <a:r>
              <a:rPr sz="1050" dirty="0" err="1">
                <a:solidFill>
                  <a:srgbClr val="FFFFFF"/>
                </a:solidFill>
                <a:latin typeface="Poppins"/>
              </a:rPr>
              <a:t>speckle+salt-pepper</a:t>
            </a:r>
            <a:r>
              <a:rPr sz="1050" dirty="0">
                <a:solidFill>
                  <a:srgbClr val="FFFFFF"/>
                </a:solidFill>
                <a:latin typeface="Poppins"/>
              </a:rPr>
              <a:t>), and geometric drift (rotation, scale, combined worst case).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 dirty="0">
                <a:solidFill>
                  <a:srgbClr val="FFFFFF"/>
                </a:solidFill>
                <a:latin typeface="Poppins"/>
              </a:rPr>
              <a:t>Everything is seeded and regenerable: dataset seed 777001, generator version driftsensev2.1.0, OpenCV pinned exactly — its 4.x-&gt;5.x </a:t>
            </a:r>
            <a:r>
              <a:rPr sz="1050" dirty="0" err="1">
                <a:solidFill>
                  <a:srgbClr val="FFFFFF"/>
                </a:solidFill>
                <a:latin typeface="Poppins"/>
              </a:rPr>
              <a:t>numerics</a:t>
            </a:r>
            <a:r>
              <a:rPr sz="1050" dirty="0">
                <a:solidFill>
                  <a:srgbClr val="FFFFFF"/>
                </a:solidFill>
                <a:latin typeface="Poppins"/>
              </a:rPr>
              <a:t> change </a:t>
            </a:r>
            <a:r>
              <a:rPr sz="1050" dirty="0" err="1">
                <a:solidFill>
                  <a:srgbClr val="FFFFFF"/>
                </a:solidFill>
                <a:latin typeface="Poppins"/>
              </a:rPr>
              <a:t>warpAffine</a:t>
            </a:r>
            <a:r>
              <a:rPr sz="1050" dirty="0">
                <a:solidFill>
                  <a:srgbClr val="FFFFFF"/>
                </a:solidFill>
                <a:latin typeface="Poppins"/>
              </a:rPr>
              <a:t>/remap output enough to move pooled accuracy by points.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969264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Accuracy, Error Statistics and Runtime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Identical at 2, 3, 4 and 5 px. That is not a rounding artifact — it is the result.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192024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 rates and error distribution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414863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50">
                <a:solidFill>
                  <a:srgbClr val="D1D5DB"/>
                </a:solidFill>
                <a:latin typeface="Poppins"/>
              </a:rPr>
              <a:t>@0.5px 66.7% - @1px 72.4% - @2px 77.6% - @3px 77.6% - @4px 77.6% - @5px 77.6% (121/156). Not one pair lands between 2px and 5px of truth: a prediction is either essentially exact or it has locked onto the wrong lattice cell. Median error 0.32px, mean 47.7px, P90 69.8px, P95 433.8px. Catastrophic (&gt;50px) 14.1%. Sub-pixel by parabolic peak fit.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192024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5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Runtime and timing method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791456"/>
            <a:ext cx="3986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50">
                <a:solidFill>
                  <a:srgbClr val="D1D5DB"/>
                </a:solidFill>
                <a:latin typeface="Poppins"/>
              </a:rPr>
              <a:t>3.72s/pair mean, 3.62s median. time.perf_counter() around localize() only — covers candidate generation, scoring, ranking, refinement; excludes image I/O. Single process, CPU only, no GPU. Windows 11 x64, Raptor Lake, Python 3.14.6, OpenCV 5.0.0; one core used. A 2-core container takes 6.08s/pair — the ratio is portable, the absolute is not.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969264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Robustness and Ablation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it holds, where it breaks, and what each shipped change actually bought.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205363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Robustness across conditions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414863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50">
                <a:solidFill>
                  <a:srgbClr val="D1D5DB"/>
                </a:solidFill>
                <a:latin typeface="Poppins"/>
              </a:rPr>
              <a:t>By split: validation 92.5% - cross_generator 80.0% (EXTERNAL data) - challenge 71.9% - development 70.8% - held_out 70.0%. By condition: no rotation drift 83.1% vs rotation drift 50.0%; no scale drift 80.0% vs scale drift 65.4%; low noise 80.0% vs high noise 66.7%. Geometry dominates; noise barely moves it. Per family: 100% on strip-anchor and mat-boundary crops, 37.5% on dense periodic.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1"/>
            <a:ext cx="5020056" cy="2053629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5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Ablation — what each change bought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791456"/>
            <a:ext cx="3986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50" dirty="0">
                <a:solidFill>
                  <a:srgbClr val="D1D5DB"/>
                </a:solidFill>
                <a:latin typeface="Poppins"/>
              </a:rPr>
              <a:t>71.2% -&gt; 77.6% (+6.4pp) across four documented gate exceptions: scale grid widened to the literal 9:1-11:1 (A2); multiway </a:t>
            </a:r>
            <a:r>
              <a:rPr sz="1050" dirty="0" err="1">
                <a:solidFill>
                  <a:srgbClr val="D1D5DB"/>
                </a:solidFill>
                <a:latin typeface="Poppins"/>
              </a:rPr>
              <a:t>centre</a:t>
            </a:r>
            <a:r>
              <a:rPr sz="1050" dirty="0">
                <a:solidFill>
                  <a:srgbClr val="D1D5DB"/>
                </a:solidFill>
                <a:latin typeface="Poppins"/>
              </a:rPr>
              <a:t> tie-break (A6); PSF-matched dual-arm candidate generation (+3.21pp production, +3.68pp on an independent seed, sign test p = 0.031); and an ambiguity-threshold recalibration verified bit-identical on every prediction.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969264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Failure Case, Limitations and Learnings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worst case in the benchmark, why it fails, and what 42 experiments taught us about why it is hard to fix.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2021546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Worst case — ho_rotation_drift_007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414863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50">
                <a:solidFill>
                  <a:srgbClr val="D1D5DB"/>
                </a:solidFill>
                <a:latin typeface="Poppins"/>
              </a:rPr>
              <a:t>A crop deep inside a single mat — no strip, no mat boundary, nothing aperiodic. Under residual rotation drift the correct lattice cell and a neighbour score within 0.05 ZNCC, and the wrong one wins. Root cause is structural, not noise: crops crossing a boundary score 92.0% (81/88), crops crossing neither 50.0% (24/48).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2021546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5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Limitations and learnings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791456"/>
            <a:ext cx="398678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50">
                <a:solidFill>
                  <a:srgbClr val="D1D5DB"/>
                </a:solidFill>
                <a:latin typeface="Poppins"/>
              </a:rPr>
              <a:t>All 35 remaining failures are near-ties, and the error is one-dimensional — along a lattice axis, cross-axis residual only ~1.5px. 37% are discovery failures, 63% selection. All 22 attempts at that selection problem were rejected; the best, gated escalation, is real in expectation (29 rescued / 10 broken over 5 seeds, p = 0.0017) yet clears the gate on zero of five seeds.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unusual here is not the matcher - it is the evidence standard every change had to clear before it was allowed into production.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1"/>
            <a:ext cx="5020056" cy="1890001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89120"/>
            <a:ext cx="442935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A physically-grounded synthetic DRAM generator: independently-rendered mats tiled with real strip/peripheral structure, not an injected disambiguation signal — combined with a validated multi-hypothesis scale/rotation search.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189000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89120"/>
            <a:ext cx="42391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Every candidate change — 42 isolated experiments including a learned re-ranker, periodicity-aware re-ranking and alternative correlation scores — must clear a mandatory 7-criterion integration gate on held-out and external data. Most were rejected and kept with their evidence; four shipped as documented exceptions.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Accurate to a third of a pixel on most pairs, honest about the rest, and fast enough to sit in an inspection loop on CPU alone.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192024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58289" y="4693231"/>
            <a:ext cx="4148633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50" dirty="0">
                <a:solidFill>
                  <a:srgbClr val="D1D5DB"/>
                </a:solidFill>
                <a:latin typeface="Poppins"/>
              </a:rPr>
              <a:t>Median error is 0.32px — sub-pixel on most pairs. The system also knows when not to answer: it compares the winning match against its best rival more than 10px away, returns 64.7% of pairs at 95.0% accuracy, and defers the rest — catching 85.7% of all failures before they reach the tool.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192024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791456"/>
            <a:ext cx="3986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50">
                <a:solidFill>
                  <a:srgbClr val="D1D5DB"/>
                </a:solidFill>
                <a:latin typeface="Poppins"/>
              </a:rPr>
              <a:t>77.6%@5px pooled (n=156), up from 71.2% (+6.4pp). Identical at 4px and 2px; 72.4%@1px; 66.7% inside half a pixel. Median error 0.32px, mean 47.7px. Catastrophic (&gt;50px) 14.1%, down from 18.6%. 3.72s/pair on a single CPU core. Crops with no distinguishing macro structure remain the disclosed limitation.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Feasibility, Technology &amp; Next Steps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Software-only, CPU-capable, and fully reproducible — with links, references, and next steps below.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108960"/>
            <a:ext cx="9467698" cy="205740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873494" y="3195321"/>
            <a:ext cx="41148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FEASIBILITY, LINKS &amp; NEXT STEPS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873494" y="3419856"/>
            <a:ext cx="8748979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spcAft>
                <a:spcPts val="400"/>
              </a:spcAft>
              <a:buNone/>
            </a:pPr>
            <a:r>
              <a:rPr sz="1000" dirty="0">
                <a:solidFill>
                  <a:srgbClr val="FFFFFF"/>
                </a:solidFill>
                <a:latin typeface="Poppins"/>
              </a:rPr>
              <a:t>Feasibility: pure Python/OpenCV/NumPy classical pipeline, CPU-only in production (3.72s/pair, single core); </a:t>
            </a:r>
            <a:r>
              <a:rPr sz="1000" dirty="0" err="1">
                <a:solidFill>
                  <a:srgbClr val="FFFFFF"/>
                </a:solidFill>
                <a:latin typeface="Poppins"/>
              </a:rPr>
              <a:t>PyTorch</a:t>
            </a:r>
            <a:r>
              <a:rPr sz="1000" dirty="0">
                <a:solidFill>
                  <a:srgbClr val="FFFFFF"/>
                </a:solidFill>
                <a:latin typeface="Poppins"/>
              </a:rPr>
              <a:t> used only for a rejected, non-production learned-</a:t>
            </a:r>
            <a:r>
              <a:rPr sz="1000" dirty="0" err="1">
                <a:solidFill>
                  <a:srgbClr val="FFFFFF"/>
                </a:solidFill>
                <a:latin typeface="Poppins"/>
              </a:rPr>
              <a:t>reranker</a:t>
            </a:r>
            <a:r>
              <a:rPr sz="1000" dirty="0">
                <a:solidFill>
                  <a:srgbClr val="FFFFFF"/>
                </a:solidFill>
                <a:latin typeface="Poppins"/>
              </a:rPr>
              <a:t> experiment.</a:t>
            </a:r>
            <a:endParaRPr lang="en-US" sz="1300" dirty="0"/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00" dirty="0">
                <a:solidFill>
                  <a:srgbClr val="FFFFFF"/>
                </a:solidFill>
                <a:latin typeface="Poppins"/>
              </a:rPr>
              <a:t>GitHub: </a:t>
            </a:r>
            <a:r>
              <a:rPr lang="en-US" sz="1000" dirty="0">
                <a:solidFill>
                  <a:srgbClr val="7FC4FF"/>
                </a:solidFill>
                <a:latin typeface="Poppins"/>
                <a:hlinkClick r:id="rId5"/>
              </a:rPr>
              <a:t>https://github.com/teja120805-cyber/Semicon-26---Kacha-Mango</a:t>
            </a:r>
            <a:endParaRPr lang="en-US" sz="1000" dirty="0">
              <a:solidFill>
                <a:srgbClr val="FFFFFF"/>
              </a:solidFill>
              <a:latin typeface="Poppins"/>
            </a:endParaRP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00" dirty="0">
                <a:solidFill>
                  <a:srgbClr val="FFFFFF"/>
                </a:solidFill>
                <a:latin typeface="Poppins"/>
              </a:rPr>
              <a:t>Demo video: </a:t>
            </a:r>
            <a:r>
              <a:rPr lang="en-US" sz="1000" dirty="0">
                <a:solidFill>
                  <a:srgbClr val="7FC4FF"/>
                </a:solidFill>
                <a:latin typeface="Poppins"/>
                <a:hlinkClick r:id="rId6"/>
              </a:rPr>
              <a:t>https://drive.google.com/drive/folders/1G6Wa_ILJXcvpa6gIHGHpws5hdlO48gVC?usp=sharing</a:t>
            </a:r>
            <a:endParaRPr lang="en-US" sz="1000" dirty="0">
              <a:solidFill>
                <a:srgbClr val="FFFFFF"/>
              </a:solidFill>
              <a:latin typeface="Poppins"/>
            </a:endParaRP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00" dirty="0">
                <a:solidFill>
                  <a:srgbClr val="FFFFFF"/>
                </a:solidFill>
                <a:latin typeface="Poppins"/>
              </a:rPr>
              <a:t>References: Foi, </a:t>
            </a:r>
            <a:r>
              <a:rPr sz="1000" dirty="0" err="1">
                <a:solidFill>
                  <a:srgbClr val="FFFFFF"/>
                </a:solidFill>
                <a:latin typeface="Poppins"/>
              </a:rPr>
              <a:t>Trimeche</a:t>
            </a:r>
            <a:r>
              <a:rPr sz="1000" dirty="0">
                <a:solidFill>
                  <a:srgbClr val="FFFFFF"/>
                </a:solidFill>
                <a:latin typeface="Poppins"/>
              </a:rPr>
              <a:t>, </a:t>
            </a:r>
            <a:r>
              <a:rPr sz="1000" dirty="0" err="1">
                <a:solidFill>
                  <a:srgbClr val="FFFFFF"/>
                </a:solidFill>
                <a:latin typeface="Poppins"/>
              </a:rPr>
              <a:t>Katkovnik</a:t>
            </a:r>
            <a:r>
              <a:rPr sz="1000" dirty="0">
                <a:solidFill>
                  <a:srgbClr val="FFFFFF"/>
                </a:solidFill>
                <a:latin typeface="Poppins"/>
              </a:rPr>
              <a:t> &amp; </a:t>
            </a:r>
            <a:r>
              <a:rPr sz="1000" dirty="0" err="1">
                <a:solidFill>
                  <a:srgbClr val="FFFFFF"/>
                </a:solidFill>
                <a:latin typeface="Poppins"/>
              </a:rPr>
              <a:t>Egiazarian</a:t>
            </a:r>
            <a:r>
              <a:rPr sz="1000" dirty="0">
                <a:solidFill>
                  <a:srgbClr val="FFFFFF"/>
                </a:solidFill>
                <a:latin typeface="Poppins"/>
              </a:rPr>
              <a:t> (2008) Poissonian-Gaussian noise; Orji et al. (2018) Nature Electronics metrology; Keeth et al. (2007) DRAM Circuit Design; Reimer (1998) SEM image formation. Full bibliography with DOIs: references/.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000" dirty="0">
                <a:solidFill>
                  <a:srgbClr val="FFFFFF"/>
                </a:solidFill>
                <a:latin typeface="Poppins"/>
              </a:rPr>
              <a:t>Future work: residual failures are one-dimensional — error along a lattice axis, ~1.5px cross-axis. Open direction: escalating hypothesis density on flagged pairs (5 seeds, +2.8pp mean; not integrated — runtime and cross-seed stability fail the gate).</a:t>
            </a:r>
          </a:p>
        </p:txBody>
      </p:sp>
      <p:sp>
        <p:nvSpPr>
          <p:cNvPr id="20" name="Shape 14"/>
          <p:cNvSpPr/>
          <p:nvPr/>
        </p:nvSpPr>
        <p:spPr>
          <a:xfrm>
            <a:off x="9619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Python, OpenCV, NumPy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CPU-only, no GPU needed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PyTorch (experiments), Streamlit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3" y="3487522"/>
            <a:ext cx="709550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400">
                <a:solidFill>
                  <a:srgbClr val="7FC4FF"/>
                </a:solidFill>
                <a:latin typeface="Poppins"/>
                <a:hlinkClick r:id="rId6"/>
              </a:rPr>
              <a:t>https://github.com/teja120805-cyber/Semicon-26---Kacha-Mango</a:t>
            </a:r>
            <a:endParaRPr lang="en-US" sz="1400" dirty="0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7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32355" y="5191963"/>
            <a:ext cx="8321040" cy="322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200" dirty="0">
                <a:solidFill>
                  <a:srgbClr val="7FC4FF"/>
                </a:solidFill>
                <a:latin typeface="Poppins"/>
                <a:hlinkClick r:id="rId9"/>
              </a:rPr>
              <a:t>https://drive.google.com/drive/folders/1G6Wa_ILJXcvpa6gIHGHpws5hdlO48gVC?usp=sharing</a:t>
            </a:r>
            <a:endParaRPr lang="en-US" sz="1400" dirty="0">
              <a:solidFill>
                <a:srgbClr val="FFFFFF"/>
              </a:solidFill>
              <a:latin typeface="Poppins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and 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923544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Structures, imaging physics, noise and the matching method are each grounded in published sources, mapped to the code that implements them.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1067105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869388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Structures follow published DRAM array organisation: independently-rendered sub-array mats tiled with sense-amplifier and wordline-driver strips, so a wide field reads as blocks separated by peripheral bands rather than one continuous lattice. Acquisition is modelled as a chain — beam PSF and astigmatism, Poisson shot noise at a set dose, Gaussian read noise, charging, raster shear and jitter, radial scan nonlinearity — then exact 10× area-average decimation. Localization is normalised cross-correlation over 99 scale × rotation hypotheses.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4155034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1057046" y="4279392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4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4497934"/>
            <a:ext cx="923544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load-bearing sources below; the full verified bibliography lives in references/.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4764938"/>
            <a:ext cx="9601200" cy="1410005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8"/>
          <p:cNvSpPr/>
          <p:nvPr/>
        </p:nvSpPr>
        <p:spPr>
          <a:xfrm>
            <a:off x="1790395" y="5232197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4926787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Keeth, Baker, Johnson &amp; Lin (2007). DRAM Circuit Design, 2nd ed. Wiley-IEEE Press. ISBN 978-0-470-18475-2 — mat / peripheral-strip array organisation.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1790395" y="5661050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 txBox="1"/>
          <p:nvPr/>
        </p:nvSpPr>
        <p:spPr>
          <a:xfrm>
            <a:off x="1790395" y="5355641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Reimer (1998). Scanning Electron Microscopy: Physics of Image Formation, 2nd ed. Springer. doi:10.1007/978-3-540-38967-5 — beam PSF, astigmatism.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790395" y="578358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Foi, Trimeche, Katkovnik &amp; Egiazarian (2008). IEEE Trans. Image Processing 17(10). doi:10.1109/TIP.2008.2001399 — Poissonian-Gaussian shot + read noise.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7FC4FF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2422</Words>
  <Application>Microsoft Office PowerPoint</Application>
  <PresentationFormat>Widescreen</PresentationFormat>
  <Paragraphs>131</Paragraphs>
  <Slides>15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Abishek Guru</cp:lastModifiedBy>
  <cp:revision>7</cp:revision>
  <dcterms:created xsi:type="dcterms:W3CDTF">2026-01-15T05:38:47Z</dcterms:created>
  <dcterms:modified xsi:type="dcterms:W3CDTF">2026-08-18T06:48:44Z</dcterms:modified>
</cp:coreProperties>
</file>