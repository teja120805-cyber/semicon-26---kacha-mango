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image" Target="../media/image11.jpe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drive/folders/1G6Wa_ILJXcvpa6gIHGHpws5hdlO48gVC?usp=sharing" TargetMode="External"/><Relationship Id="rId13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hyperlink" Target="https://github.com/teja120805-cyber/Semicon-26---Kacha-Mango" TargetMode="External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2.png"/><Relationship Id="rId10" Type="http://schemas.openxmlformats.org/officeDocument/2006/relationships/image" Target="../media/image19.png"/><Relationship Id="rId4" Type="http://schemas.openxmlformats.org/officeDocument/2006/relationships/image" Target="../media/image11.jpe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teja120805-cyber/Semicon-26---Kacha-Mango" TargetMode="External"/><Relationship Id="rId13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hyperlink" Target="https://drive.google.com/drive/folders/1G6Wa_ILJXcvpa6gIHGHpws5hdlO48gVC?usp=sharing" TargetMode="External"/><Relationship Id="rId5" Type="http://schemas.openxmlformats.org/officeDocument/2006/relationships/image" Target="../media/image2.png"/><Relationship Id="rId10" Type="http://schemas.openxmlformats.org/officeDocument/2006/relationships/image" Target="../media/image24.png"/><Relationship Id="rId4" Type="http://schemas.openxmlformats.org/officeDocument/2006/relationships/image" Target="../media/image11.jpe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4114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DriftSense — 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Kaccha Mango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Abishek Guru 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211134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Tejashwan</a:t>
            </a:r>
            <a:r>
              <a:rPr lang="en-US" sz="11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Gangishetty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9" name="Text 50"/>
          <p:cNvSpPr txBox="1"/>
          <p:nvPr/>
        </p:nvSpPr>
        <p:spPr>
          <a:xfrm>
            <a:off x="4080053" y="3181197"/>
            <a:ext cx="1799379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Anushka </a:t>
            </a:r>
            <a:r>
              <a:rPr lang="en-US" sz="1100" dirty="0" err="1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Chandergi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799379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Meenakshi Sundaram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3" name="Text 54"/>
          <p:cNvSpPr txBox="1"/>
          <p:nvPr/>
        </p:nvSpPr>
        <p:spPr>
          <a:xfrm>
            <a:off x="923544" y="5152644"/>
            <a:ext cx="4763382" cy="276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Vellore Institute of Technology, Vellore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9080439729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3674188" cy="257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abishekguru.m2023@vitstudent.ac.in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8" y="3193085"/>
            <a:ext cx="860716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cap="all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Drift-Sense: AI-Powered Navigation-Error Recovery for Wafer Inspection Tools</a:t>
            </a:r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267798" cy="233172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283050"/>
            <a:ext cx="89684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200">
                <a:solidFill>
                  <a:srgbClr val="FFFFFF"/>
                </a:solidFill>
                <a:latin typeface="Poppins"/>
              </a:rPr>
              <a:t>Inspection tools must relocate a previously captured 100x Reference to the same site in a wider, noisier 10x Search image — across a ~10:1 (9:1-11:1) scale gap, 1-2° rotation drift, and realistic SEM degradation.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Poppins"/>
              </a:rPr>
              <a:t>Real DRAM structure is highly repetitive: a wrong periodic repeat can score almost identically to the true site. DriftSense recovers the target center (x, y) automatically, with a confidence/ambiguity score alongside it.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 a brief summary of your idea, including the key concept and approach. Provide a brief overview of your solution and how it addresses the problem statement.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4060850"/>
            <a:ext cx="10267798" cy="1051560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4261104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2" y="4528109"/>
            <a:ext cx="7677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Poppins"/>
              </a:rPr>
              <a:t>Classical multi-scale, multi-rotation template matching: search scale x rotation hypotheses, rank candidates by normalized cross-correlation, then refine to sub-pixel precision.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5257800"/>
            <a:ext cx="10267798" cy="1188720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2" y="5458968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724144"/>
            <a:ext cx="8458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Poppins"/>
              </a:rPr>
              <a:t>Paired with DriftSense's own synthetic DRAM mat/strip generator (realistic macro-structure + SEM degradations), so the pipeline is built and evaluated against data that mirrors real repetitive-pattern ambiguity.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your idea in detail. Include the methodology, technologies involved, and how it addresses the chosen problem statement.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134002"/>
            <a:ext cx="10267798" cy="214884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372661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050">
                <a:solidFill>
                  <a:srgbClr val="FFFFFF"/>
                </a:solidFill>
                <a:latin typeface="Poppins"/>
              </a:rPr>
              <a:t>Pipeline: Reference → candidate generation (ZNCC over a 9x9 grid of scale x rotation hypotheses, ±8% scale / ±5°) → dedup → ranking (highest-score match) → sub-pixel refinement → (x, y) + confidence/ambiguity score.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FFFFFF"/>
                </a:solidFill>
                <a:latin typeface="Poppins"/>
              </a:rPr>
              <a:t>Data generator: DRAM mats rendered independently, tiled with strip/routing regions on a shared canvas — real structural boundaries, not an injected marker, disambiguate repeats; SEM degradations layered on after.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50">
                <a:solidFill>
                  <a:srgbClr val="FFFFFF"/>
                </a:solidFill>
                <a:latin typeface="Poppins"/>
              </a:rPr>
              <a:t>The hypothesis grid was widened from 5x5 to 9x9 (same span, finer step) after validation showed this recovers rotation/scale-drift failures without affecting unrelated cases.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 what makes your idea unique or innovative compared to existing solutions.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1783080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FFFFF"/>
                </a:solidFill>
                <a:latin typeface="Poppins"/>
              </a:rPr>
              <a:t>A physically-grounded synthetic DRAM generator: independently-rendered mats tiled with real strip/peripheral structure, not an injected disambiguation signal — combined with a validated multi-hypothesis scale/rotation search.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1783080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1"/>
            <a:ext cx="42391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FFFFF"/>
                </a:solidFill>
                <a:latin typeface="Poppins"/>
              </a:rPr>
              <a:t>Every candidate improvement (finer hypothesis grid, learned re-ranker, periodicity scoring, wider candidate pool) is tested against a mandatory integration gate on held-out and external data before being trusted — most were honestly rejected; one validated change shipped.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 how your solution will make an impact, such as improving </a:t>
            </a:r>
            <a:r>
              <a:rPr lang="en-US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</a:t>
            </a: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reducing costs, increasing efficiency, or solving other challenges.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1920240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791456"/>
            <a:ext cx="414863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>
                <a:solidFill>
                  <a:srgbClr val="D1D5DB"/>
                </a:solidFill>
                <a:latin typeface="Poppins"/>
              </a:rPr>
              <a:t>The classical pipeline localizes to sub-pixel accuracy on most pairs (median error 0.33px). A validated 9x9 hypothesis-grid search recovers many rotation/scale-drift failures a coarser 5x5 grid misses, without regressing any unaffected case.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210605" y="4210812"/>
            <a:ext cx="5020056" cy="1920240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4791456"/>
            <a:ext cx="3986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50">
                <a:solidFill>
                  <a:srgbClr val="D1D5DB"/>
                </a:solidFill>
                <a:latin typeface="Poppins"/>
              </a:rPr>
              <a:t>71.2%@5px pooled (n=156). Mean error 65.3px → 53.6px. Candidate recall@5px 82.6% → 87.1%. Catastrophic (&gt;50px) rate 18.6% → 16.7%. ~1.6s/pair on CPU. Periodic-pattern catastrophic failures remain a known, disclosed limitation.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Feasibility, Technology &amp; Next Steps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Software-only, CPU-capable, and fully reproducible — with links, references, and next steps below.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108960"/>
            <a:ext cx="9467698" cy="20574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873494" y="3195321"/>
            <a:ext cx="4114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FEASIBILITY, LINKS &amp; NEXT STEPS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873494" y="3357677"/>
            <a:ext cx="874897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sz="1000" dirty="0">
                <a:solidFill>
                  <a:srgbClr val="FFFFFF"/>
                </a:solidFill>
                <a:latin typeface="Poppins"/>
              </a:rPr>
              <a:t>Feasibility: pure Python/OpenCV/NumPy classical pipeline, CPU-only in production (~1.6s/pair); </a:t>
            </a:r>
            <a:r>
              <a:rPr sz="1000" dirty="0" err="1">
                <a:solidFill>
                  <a:srgbClr val="FFFFFF"/>
                </a:solidFill>
                <a:latin typeface="Poppins"/>
              </a:rPr>
              <a:t>PyTorch</a:t>
            </a:r>
            <a:r>
              <a:rPr sz="1000" dirty="0">
                <a:solidFill>
                  <a:srgbClr val="FFFFFF"/>
                </a:solidFill>
                <a:latin typeface="Poppins"/>
              </a:rPr>
              <a:t> used only for a rejected, non-production learned-</a:t>
            </a:r>
            <a:r>
              <a:rPr sz="1000" dirty="0" err="1">
                <a:solidFill>
                  <a:srgbClr val="FFFFFF"/>
                </a:solidFill>
                <a:latin typeface="Poppins"/>
              </a:rPr>
              <a:t>reranker</a:t>
            </a:r>
            <a:r>
              <a:rPr sz="1000" dirty="0">
                <a:solidFill>
                  <a:srgbClr val="FFFFFF"/>
                </a:solidFill>
                <a:latin typeface="Poppins"/>
              </a:rPr>
              <a:t> experiment.</a:t>
            </a:r>
            <a:endParaRPr lang="en-US" sz="1300" dirty="0"/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dirty="0">
                <a:solidFill>
                  <a:srgbClr val="FFFFFF"/>
                </a:solidFill>
                <a:latin typeface="Poppins"/>
              </a:rPr>
              <a:t>GitHub: </a:t>
            </a:r>
            <a:r>
              <a:rPr lang="en-US" sz="1000" dirty="0">
                <a:solidFill>
                  <a:srgbClr val="FFFFFF"/>
                </a:solidFill>
                <a:latin typeface="Poppins"/>
                <a:hlinkClick r:id="rId7"/>
              </a:rPr>
              <a:t>https://github.com/teja120805-cyber/Semicon-26---Kacha-Mango</a:t>
            </a:r>
            <a:endParaRPr lang="en-US" sz="1000" dirty="0">
              <a:solidFill>
                <a:srgbClr val="FFFFFF"/>
              </a:solidFill>
              <a:latin typeface="Poppins"/>
            </a:endParaRP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dirty="0">
                <a:solidFill>
                  <a:srgbClr val="FFFFFF"/>
                </a:solidFill>
                <a:latin typeface="Poppins"/>
              </a:rPr>
              <a:t>Demo video: </a:t>
            </a:r>
            <a:r>
              <a:rPr lang="en-US" sz="1000" dirty="0">
                <a:solidFill>
                  <a:srgbClr val="FFFFFF"/>
                </a:solidFill>
                <a:latin typeface="Poppins"/>
                <a:hlinkClick r:id="rId8"/>
              </a:rPr>
              <a:t>https://drive.google.com/drive/folders/1G6Wa_ILJXcvpa6gIHGHpws5hdlO48gVC?usp=sharing</a:t>
            </a:r>
            <a:endParaRPr lang="en-US" sz="1000" dirty="0">
              <a:solidFill>
                <a:srgbClr val="FFFFFF"/>
              </a:solidFill>
              <a:latin typeface="Poppins"/>
            </a:endParaRP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00" dirty="0">
                <a:solidFill>
                  <a:srgbClr val="FFFFFF"/>
                </a:solidFill>
                <a:latin typeface="Poppins"/>
              </a:rPr>
              <a:t>References: Foi, </a:t>
            </a:r>
            <a:r>
              <a:rPr sz="1000" dirty="0" err="1">
                <a:solidFill>
                  <a:srgbClr val="FFFFFF"/>
                </a:solidFill>
                <a:latin typeface="Poppins"/>
              </a:rPr>
              <a:t>Trimeche</a:t>
            </a:r>
            <a:r>
              <a:rPr sz="1000" dirty="0">
                <a:solidFill>
                  <a:srgbClr val="FFFFFF"/>
                </a:solidFill>
                <a:latin typeface="Poppins"/>
              </a:rPr>
              <a:t>, </a:t>
            </a:r>
            <a:r>
              <a:rPr sz="1000" dirty="0" err="1">
                <a:solidFill>
                  <a:srgbClr val="FFFFFF"/>
                </a:solidFill>
                <a:latin typeface="Poppins"/>
              </a:rPr>
              <a:t>Katkovnik</a:t>
            </a:r>
            <a:r>
              <a:rPr sz="1000" dirty="0">
                <a:solidFill>
                  <a:srgbClr val="FFFFFF"/>
                </a:solidFill>
                <a:latin typeface="Poppins"/>
              </a:rPr>
              <a:t> &amp; </a:t>
            </a:r>
            <a:r>
              <a:rPr sz="1000" dirty="0" err="1">
                <a:solidFill>
                  <a:srgbClr val="FFFFFF"/>
                </a:solidFill>
                <a:latin typeface="Poppins"/>
              </a:rPr>
              <a:t>Egiazarian</a:t>
            </a:r>
            <a:r>
              <a:rPr sz="1000" dirty="0">
                <a:solidFill>
                  <a:srgbClr val="FFFFFF"/>
                </a:solidFill>
                <a:latin typeface="Poppins"/>
              </a:rPr>
              <a:t> (2008) Poisson-Gaussian noise modeling; Orji et al. (2018) Nature Electronics metrology; Applied Materials/Hugging Face SEM reference generator (official starter resource).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Poppins"/>
              </a:rPr>
              <a:t>Future work: periodicity-aware re-ranking with more data, richer spatial context, robustness to unseen acquisition conditions.</a:t>
            </a:r>
          </a:p>
        </p:txBody>
      </p:sp>
      <p:sp>
        <p:nvSpPr>
          <p:cNvPr id="20" name="Shape 14"/>
          <p:cNvSpPr/>
          <p:nvPr/>
        </p:nvSpPr>
        <p:spPr>
          <a:xfrm>
            <a:off x="9619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Python, OpenCV, NumPy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CPU-only, no GPU needed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PyTorch (experiments), Streamlit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3" y="3487522"/>
            <a:ext cx="70955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en-US" sz="1400">
                <a:solidFill>
                  <a:srgbClr val="FFFFFF"/>
                </a:solidFill>
                <a:latin typeface="Poppins"/>
                <a:hlinkClick r:id="rId8"/>
              </a:rPr>
              <a:t>https://github.com/teja120805-cyber/Semicon-26---Kacha-Mango</a:t>
            </a:r>
            <a:endParaRPr lang="en-US" sz="1400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1"/>
            <a:ext cx="7776362" cy="322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en-US" sz="1400" dirty="0">
                <a:solidFill>
                  <a:srgbClr val="FFFFFF"/>
                </a:solidFill>
                <a:latin typeface="Poppins"/>
                <a:hlinkClick r:id="rId11"/>
              </a:rPr>
              <a:t>https://drive.google.com/drive/folders/1G6Wa_ILJXcvpa6gIHGHpws5hdlO48gVC?usp=sharing</a:t>
            </a:r>
            <a:endParaRPr lang="en-US" sz="1400" dirty="0">
              <a:solidFill>
                <a:srgbClr val="FFFFFF"/>
              </a:solidFill>
              <a:latin typeface="Poppin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Briefly describe the research foundation or scientific principles supporting your idea.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067105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945282"/>
            <a:ext cx="55440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{Detail your research findings, theoretical basis, or methodology here...}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key papers, articles, or data sources.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4926787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{Ref 1: Title of Paper/Article - Source/URL}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0395" y="5355641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{Ref 2: Title of Paper/Article - Source/URL}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790395" y="5783580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{Ref 3: Title of Paper/Article - Source/URL}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958</Words>
  <Application>Microsoft Office PowerPoint</Application>
  <PresentationFormat>Widescreen</PresentationFormat>
  <Paragraphs>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Abishek Guru</cp:lastModifiedBy>
  <cp:revision>6</cp:revision>
  <dcterms:created xsi:type="dcterms:W3CDTF">2026-01-15T05:38:47Z</dcterms:created>
  <dcterms:modified xsi:type="dcterms:W3CDTF">2026-08-15T16:06:15Z</dcterms:modified>
</cp:coreProperties>
</file>